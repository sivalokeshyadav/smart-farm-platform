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SMART FARMER PLATFORM</a:t>
            </a:r>
          </a:p>
          <a:p>
            <a:pPr>
              <a:spcAft>
                <a:spcPts val="2400"/>
              </a:spcAft>
              <a:defRPr sz="2000">
                <a:solidFill>
                  <a:srgbClr val="A0DCB4"/>
                </a:solidFill>
              </a:defRPr>
            </a:pPr>
            <a:r>
              <a:t>Democratizing Global Agricultural Supply Chains with Digital Infrastructure &amp; AI</a:t>
            </a:r>
          </a:p>
          <a:p>
            <a:pPr>
              <a:defRPr sz="1300">
                <a:solidFill>
                  <a:srgbClr val="C8C8C8"/>
                </a:solidFill>
              </a:defRPr>
            </a:pPr>
            <a:r>
              <a:t>Investor Presentation &amp; Global Scale-Up Proposal | Target Funding: $5.0M Series Seed/A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The Crisis in Smallholder Agriculture: Severe Supply Chain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1. Intermediary Exploitation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5-7 unorganized middlemen take 35% to 50% of produce value.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Farmers have zero price transparency before reaching yards.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Distress selling during peak harvest surges collapses realized prices.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Opaque commission skimming traps farmers in debt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2. Massive Post-Harvest Losses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Over 30% of harvested agricultural produce spoils in transit.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Lack of cold-chain and certified godown storage access.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Manual paper receipts prevent bank pledge financing.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Farmers forced to liquidate perishable grains at steep discounts.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3. Severe Mechanization Deficit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Smallholders (&lt;2 Ha) cannot afford tractors or harvesters.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Equipment lies idle with large owners with zero rental visibility.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Agronomic pests destroy 20%+ yield before diagnosis.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Doorstep veterinary healthcare is virtually non-existent.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The Solution: A Unified Digital Agricultural Operating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Single-Window Digital Gateway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Connects smallholders directly with APMC market yards, licensed state godowns, and buyers.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Available via web, mobile PWA, and voice IVR for illiterate farmers.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Real-Time Smart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Algorithmic slot booking prevents mandi congestion and queue delays.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Electronic Negotiable Warehouse Receipts (e-NWR) unlock instant banking credit.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Precision Farm Engineering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GPS Walk &amp; Pin polygon perimeter land surveying with material fencing calculators.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Doorstep veterinary surgical triage and livestock healthcare dispatch.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Multi-Stakeholder Transparency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Role-adaptive dashboards tailored for Farmers, Mandi Staff, Godown Operators, and Admins.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Guaranteed immutable audit logs and automated weighbridge integrations.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Real-World Proof: Rayalaseema APMC Pilot &amp; Cloud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14 Seeded Roles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Farmers, Mandi Staff, Warehouse Managers, Vet Doctors, Traders.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Fine-grained RBAC permissions active across all routes.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Multi-role switching with instant session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Production Cloud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Distributed MongoDB Atlas multi-region cluster (Cluster0).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16 live collections: bookings, godowns, diagnoses, audit logs.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High-performance FastAPI async backend micro-services.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QR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Instant QR token generation for booked arrival slots.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Gatekeeper scanner widget updates status to ARRIVED instantly.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Zero paper reliance at mandi entry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Pilot Feedback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Average mandi queue wait time reduced from 8 hours to 45 mins.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98.4% QR scan success rate at Kurnool APMC yard.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100% positive satisfaction across tested RBK operators.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Current Core Functional Capabilities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1. Mandi Slot Booking &amp; QR Gate Passes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Farmers schedule commodity arrival slots by lot size.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Automated capacity throttling prevents mandi gate gridlock.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Digital scannable QR gate passes verified in &lt;2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2. State Godowns &amp; e-NWR Warehouse Receipts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Live capacity utilization gauges across state warehouses.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Grain moisture and quality verification logging.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e-NWR certificate issuance for bank pledge financing.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3. GPS Walk &amp; Pin Land Survey Calculator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Farmers walk field boundary corners to draw true vector polygon.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Calculates exact area in Acres, Cents, and Guntas.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Fencing material estimator: poles, wire meters, and commercial rolls.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4. Doorstep Veterinary Services &amp; Advisory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Emergency livestock medical visit booking at farm gate.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Doctor triage portal for bovine mastitis, fevers, and deworming.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Digital prescription and animal health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Next-Gen Supercharged Features: The 6 Value Multipliers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1. Multimodal AI Diagnostics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Computer Vision crop disease detection from photos (&gt;94% accuracy).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Predictive APMC mandi price and yield forecasting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2. Rural Logistics Driver Fleet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Vetted driver onboarding (mini-trucks, tractors, multi-axles).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Commercial license KYC, payload capacity tiers, dispatch queues.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3. Live GPS Route Tracking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Real-time telemetry streaming from farm pickup to mandi scale.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Geofencing gate triggers and electronic Proof of Delivery (e-POD).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2918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4. Digital Payments &amp; Escrow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Instant UPI, BharatQR, and Card payments.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Buyer escrow hold until crop inspection; automatic APMC cess cut.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32918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5. Agri-Tools E-Commerce Store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Verified marketplace for certified seeds, bio-fertilizers, and sprayers.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Agronomic suitability matching based on surveyed farm acreage.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291840" cy="219456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6. Heavy Machinery Rental Hub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P2P &amp; Custom Hiring Centre tractor and harvester leasing.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Hourly/Per-Acre rates, operator selection, security deposit escrow.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Massive Total Addressable Market: $2.4 Trillion Global Economy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Total Addressable (TAM)</a:t>
            </a:r>
            <a:br/>
            <a:r>
              <a:t>$2.4 Trillion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500 Million smallholder farmers globally.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India: 140M farmers across 7,000+ APMC mandis.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Southeast Asia: 100M farmers (Rice, Palm, Rubber).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Africa: 130M farmers (Cassava, Maize, Coffee).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Latin America: 40M farmers (Grain, Soy, Cattle).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Serviceable Market (SAM)</a:t>
            </a:r>
            <a:br/>
            <a:r>
              <a:t>$480 Billion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Formal wholesale agricultural arrivals at regulated markets.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Certified public/private storage warehouses and cold rooms.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Mechanized equipment rentals and agricultural inputs commerce.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High adoption of smartphones &amp; digital payment 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Obtainable Market (SOM)</a:t>
            </a:r>
            <a:br/>
            <a:r>
              <a:t>$12.5 Billion GMV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Targeting 500+ APMC mandis &amp; 10M active farmers in 5 years.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Capturing 2.5% market share in focus export corridors.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Generating $190M+ net platform revenue by Year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Business Model: 5 High-Margin Diversified Revenue Engines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1. Mandi Take-Rate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0.75% - 1.5% GMV commission on traded commodity lots passing through digital gates.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Scales with overall wholesale harvest volume.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2. Warehouse SaaS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$150 - $400/month recurring subscription per godown for e-NWR and capacity management.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High switching costs, 95%+ net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3. Rental Take-Rate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8% - 12% commission on tractor, harvester, and drone rental bookings.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Asset-light marketplace model with escrow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4. Tools E-Commerce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5% - 15% wholesale margin on certified inputs, solar pumps, and hardware.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Delivered direct-to-farm via integrated fleet.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116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5. FinTech Float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Interest on escrow settlement float + loan origination data licensing with partner banks.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Zero balance sheet credit risk for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Four-Phase Global Scaling Roadmap: 2026 - 2030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Phase 1: Pan-India</a:t>
            </a:r>
            <a:br/>
            <a:r>
              <a:t>(Months 1 - 18)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Scale from Rayalaseema across AP, Telangana, Karnataka, Maharashtra, Punjab.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Target: 450 Mandis, 1,200 Godowns, 1.5M Farmers.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Projected ARR: $5.4M.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Phase 2: SE Asia</a:t>
            </a:r>
            <a:br/>
            <a:r>
              <a:t>(Months 19 - 30)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Launch in Indonesia, Vietnam, and Thailand.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Local language AI &amp; payment integration (GoPay, MoMo).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Partner with regional farmer cooperatives.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Projected ARR: $21.5M.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Phase 3: Africa</a:t>
            </a:r>
            <a:br/>
            <a:r>
              <a:t>(Months 31 - 44)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Expand to Kenya, Nigeria, Tanzania, Ghana.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M-Pesa mobile money and offline SMS/IVR workflows.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Integration with national grain boards.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Projected ARR: $68.2M.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Phase 4: Latin America</a:t>
            </a:r>
            <a:br/>
            <a:r>
              <a:t>(Months 45 - 60)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Enter Brazil, Colombia, Mexico.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High-volume grain, soybean, and coffee clusters.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Export shipping integration.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Projected ARR: $192.0M.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Financial Projections: Scaling to $190M+ Revenue &amp; 53% EBITDA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Five-Year Executive Financial Trajectory (USD Millions)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Year 1: GMV $45.0M | Net Revenue $1.25M | Gross Profit $1.02M | EBITDA ($1.83M) - Initial Market Rollout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Year 2: GMV $180.0M | Net Revenue $5.40M | Gross Profit $4.48M | EBITDA ($0.62M) - Pan-India Scale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Year 3: GMV $650.0M | Net Revenue $21.50M | Gross Profit $18.06M | EBITDA +$5.66M (26% Margin) - Profitable Expansion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Year 4: GMV $1,850.0M | Net Revenue $68.20M | Gross Profit $57.97M | EBITDA +$29.47M (43% Margin) - Africa &amp; SE Asia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Year 5: GMV $4,800.0M | Net Revenue $192.00M | Gross Profit $165.12M | EBITDA +$103.12M (53.7% Margin) - Global Market Leader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-------------------------------------------------------------------------------------------------------------------------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Key Financial Highlights: 82%+ blended gross margin, $0 balance sheet inventory risk, 320% Year-on-Year compound growth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7344"/>
                </a:solidFill>
              </a:defRPr>
            </a:pPr>
            <a:r>
              <a:t>SMART FARMER PLATFORM | GLOBAL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4C2B"/>
                </a:solidFill>
              </a:defRPr>
            </a:pPr>
            <a:r>
              <a:t>The Funding Ask: $5,000,000 USD Capital Allocation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Engineering &amp; AI</a:t>
            </a:r>
            <a:br/>
            <a:r>
              <a:t>$1,750,000 (35%)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Crop disease vision models.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Real-time GPS dispatch engine.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Distributed multi-region Atlas database.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Mobile offline PWA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Market Rollout</a:t>
            </a:r>
            <a:br/>
            <a:r>
              <a:t>$1,750,000 (35%)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Onboarding 400+ APMC mandis.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Establishing 1,000 rural kiosk nodes.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Field coordinator network.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Cooperative partnerships.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FinTech &amp; Capital</a:t>
            </a:r>
            <a:br/>
            <a:r>
              <a:t>$1,000,000 (20%)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Escrow guarantee reserve.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Payment gateway compliance liquidity.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Working capital buffer.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18-month financial runway.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5F8F5"/>
          </a:solidFill>
          <a:ln w="19050">
            <a:solidFill>
              <a:srgbClr val="C8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B"/>
                </a:solidFill>
              </a:defRPr>
            </a:pPr>
            <a:r>
              <a:t>Legal &amp; Admin</a:t>
            </a:r>
            <a:br/>
            <a:r>
              <a:t>$500,000 (10%)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Statutory APMC licensing.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International corporate structuring (Delaware / Singapore).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ESG impact certification.</a:t>
            </a:r>
          </a:p>
          <a:p>
            <a:pPr>
              <a:spcAft>
                <a:spcPts val="400"/>
              </a:spcAft>
              <a:defRPr sz="1100">
                <a:solidFill>
                  <a:srgbClr val="3C3C3C"/>
                </a:solidFill>
              </a:defRPr>
            </a:pPr>
            <a:r>
              <a:t>• Security audits (ISO 27001).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JOIN US IN TRANSFORMING GLOBAL AGRICULTURE</a:t>
            </a:r>
          </a:p>
          <a:p>
            <a:pPr>
              <a:spcAft>
                <a:spcPts val="2800"/>
              </a:spcAft>
              <a:defRPr sz="1800">
                <a:solidFill>
                  <a:srgbClr val="A0DCB4"/>
                </a:solidFill>
              </a:defRPr>
            </a:pPr>
            <a:r>
              <a:t>We are not just building software — we are building the digital nervous system for the next generation of global smallholder agriculture.</a:t>
            </a:r>
          </a:p>
          <a:p>
            <a:pPr>
              <a:spcAft>
                <a:spcPts val="2000"/>
              </a:spcAft>
              <a:defRPr sz="1400">
                <a:solidFill>
                  <a:srgbClr val="E6E6E6"/>
                </a:solidFill>
              </a:defRPr>
            </a:pPr>
            <a:r>
              <a:t>Direct Impact on 10M+ Smallholders | Eliminating $1.2B in Crop Waste | $190M+ ARR Potential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Contact: Smart Farmer Platform Global Leadership Team | Email: leadership@smartfarmer.org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